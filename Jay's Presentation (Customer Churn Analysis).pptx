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9"/>
  </p:notesMasterIdLst>
  <p:sldIdLst>
    <p:sldId id="256" r:id="rId2"/>
    <p:sldId id="313" r:id="rId3"/>
    <p:sldId id="332" r:id="rId4"/>
    <p:sldId id="328" r:id="rId5"/>
    <p:sldId id="333" r:id="rId6"/>
    <p:sldId id="334" r:id="rId7"/>
    <p:sldId id="331" r:id="rId8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Black" panose="00000A00000000000000" pitchFamily="2" charset="0"/>
      <p:bold r:id="rId18"/>
      <p:boldItalic r:id="rId19"/>
    </p:embeddedFont>
    <p:embeddedFont>
      <p:font typeface="Poppins ExtraBold" panose="00000900000000000000" pitchFamily="2" charset="0"/>
      <p:bold r:id="rId20"/>
      <p:boldItalic r:id="rId21"/>
    </p:embeddedFont>
    <p:embeddedFont>
      <p:font typeface="Tahoma" panose="020B0604030504040204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B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EBA8CF-D910-4AFE-AE5F-AD4A6CC37777}">
  <a:tblStyle styleId="{92EBA8CF-D910-4AFE-AE5F-AD4A6CC377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F2666B4-670C-4A21-928F-7C974B7A5CC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rot="10800000" flipH="1">
              <a:off x="-3" y="-1466368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7" name="Google Shape;7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1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2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3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4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5"/>
          <p:cNvSpPr/>
          <p:nvPr/>
        </p:nvSpPr>
        <p:spPr>
          <a:xfrm rot="10800000" flipH="1">
            <a:off x="7378450" y="-807272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36" name="Google Shape;236;p13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2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7" hasCustomPrompt="1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8" hasCustomPrompt="1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9" hasCustomPrompt="1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3" hasCustomPrompt="1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463;p22"/>
            <p:cNvSpPr/>
            <p:nvPr/>
          </p:nvSpPr>
          <p:spPr>
            <a:xfrm rot="10800000" flipH="1">
              <a:off x="-1123779" y="-1437185"/>
              <a:ext cx="3115510" cy="1837815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64" name="Google Shape;46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2"/>
          <p:cNvSpPr txBox="1">
            <a:spLocks noGrp="1"/>
          </p:cNvSpPr>
          <p:nvPr>
            <p:ph type="subTitle" idx="1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2"/>
          <p:cNvSpPr txBox="1">
            <a:spLocks noGrp="1"/>
          </p:cNvSpPr>
          <p:nvPr>
            <p:ph type="subTitle" idx="2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2"/>
          <p:cNvSpPr txBox="1">
            <a:spLocks noGrp="1"/>
          </p:cNvSpPr>
          <p:nvPr>
            <p:ph type="subTitle" idx="3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2"/>
          <p:cNvSpPr txBox="1">
            <a:spLocks noGrp="1"/>
          </p:cNvSpPr>
          <p:nvPr>
            <p:ph type="subTitle" idx="4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69" name="Google Shape;469;p22"/>
          <p:cNvSpPr txBox="1">
            <a:spLocks noGrp="1"/>
          </p:cNvSpPr>
          <p:nvPr>
            <p:ph type="subTitle" idx="5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70" name="Google Shape;470;p22"/>
          <p:cNvSpPr txBox="1">
            <a:spLocks noGrp="1"/>
          </p:cNvSpPr>
          <p:nvPr>
            <p:ph type="subTitle" idx="6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471" name="Google Shape;471;p22"/>
          <p:cNvGrpSpPr/>
          <p:nvPr/>
        </p:nvGrpSpPr>
        <p:grpSpPr>
          <a:xfrm rot="10800000" flipH="1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rot="10800000" flipH="1">
              <a:off x="-592558" y="-10342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22"/>
            <p:cNvSpPr/>
            <p:nvPr/>
          </p:nvSpPr>
          <p:spPr>
            <a:xfrm rot="10800000" flipH="1">
              <a:off x="5882231" y="4965151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7" r:id="rId5"/>
    <p:sldLayoutId id="2147483668" r:id="rId6"/>
    <p:sldLayoutId id="2147483677" r:id="rId7"/>
    <p:sldLayoutId id="214748367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D847484-C8D8-2834-2DFB-55F8858F5074}"/>
              </a:ext>
            </a:extLst>
          </p:cNvPr>
          <p:cNvSpPr txBox="1"/>
          <p:nvPr/>
        </p:nvSpPr>
        <p:spPr>
          <a:xfrm>
            <a:off x="1074224" y="1436589"/>
            <a:ext cx="69955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Title: </a:t>
            </a:r>
            <a:r>
              <a:rPr lang="en-IN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Churn Analysis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38701-6AEC-C84A-3411-A26BCF6214BA}"/>
              </a:ext>
            </a:extLst>
          </p:cNvPr>
          <p:cNvSpPr txBox="1"/>
          <p:nvPr/>
        </p:nvSpPr>
        <p:spPr>
          <a:xfrm>
            <a:off x="-58123" y="1994669"/>
            <a:ext cx="9260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Domain: </a:t>
            </a:r>
            <a:r>
              <a:rPr lang="en-IN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Telecommunications / Customer Analytics</a:t>
            </a:r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3AB4CA-FE6A-EC1D-07D9-B7B964E9836B}"/>
              </a:ext>
            </a:extLst>
          </p:cNvPr>
          <p:cNvSpPr txBox="1"/>
          <p:nvPr/>
        </p:nvSpPr>
        <p:spPr>
          <a:xfrm>
            <a:off x="2684967" y="2429639"/>
            <a:ext cx="3774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Presenter: </a:t>
            </a:r>
            <a:r>
              <a:rPr lang="en-IN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Jay Bourasi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8695CD4-2FA8-2AC9-0776-0D7AC9AA6239}"/>
              </a:ext>
            </a:extLst>
          </p:cNvPr>
          <p:cNvSpPr txBox="1"/>
          <p:nvPr/>
        </p:nvSpPr>
        <p:spPr>
          <a:xfrm>
            <a:off x="1761944" y="355976"/>
            <a:ext cx="5620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Context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E5DBF50-27AA-DD5A-1345-5EEDEEBC8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82" y="931223"/>
            <a:ext cx="86152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Objectives: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goal of this project was to analyze customer behavior, identify key factors influencing churn, and develop data-driven strategies to improve customer retention and reduce revenue loss.</a:t>
            </a:r>
          </a:p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Problem: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company was facing a high customer churn rate due to issues such as short-term contracts, high service charges, and limited customer engagement. This resulted in loss of recurring revenue and increased costs for acquiring new customers.</a:t>
            </a:r>
          </a:p>
        </p:txBody>
      </p:sp>
    </p:spTree>
    <p:extLst>
      <p:ext uri="{BB962C8B-B14F-4D97-AF65-F5344CB8AC3E}">
        <p14:creationId xmlns:p14="http://schemas.microsoft.com/office/powerpoint/2010/main" val="59960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FA46835-C30D-24FA-88AC-3EC99E89958F}"/>
              </a:ext>
            </a:extLst>
          </p:cNvPr>
          <p:cNvSpPr txBox="1"/>
          <p:nvPr/>
        </p:nvSpPr>
        <p:spPr>
          <a:xfrm>
            <a:off x="958792" y="221400"/>
            <a:ext cx="72264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17A138-927F-80E5-D199-9EECA1330C02}"/>
              </a:ext>
            </a:extLst>
          </p:cNvPr>
          <p:cNvSpPr txBox="1"/>
          <p:nvPr/>
        </p:nvSpPr>
        <p:spPr>
          <a:xfrm>
            <a:off x="554151" y="606012"/>
            <a:ext cx="83961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Churn Rate: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overall customer churn rate is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26.58%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indicating that more than one-fourth of customers leave the company.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Contract Type: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Customers on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month-to-month contracts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show the highest churn compared to one-year and two-year contract customers.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 Method: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Customers using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electronic check payments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have the highest churn rate (45.29%), while automatic payment methods show lower churn.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Service Usage: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Customers using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fiber optic internet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those without services like Tech Support and Online Security are more likely to churn.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Tenure: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customers with low tenure have a higher likelihood of churning, while long-term customers tend to stay longer.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Pricing Impact: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Customers in higher monthly charge brackets show increased churn, indicating price sensitivity.</a:t>
            </a:r>
          </a:p>
        </p:txBody>
      </p:sp>
    </p:spTree>
    <p:extLst>
      <p:ext uri="{BB962C8B-B14F-4D97-AF65-F5344CB8AC3E}">
        <p14:creationId xmlns:p14="http://schemas.microsoft.com/office/powerpoint/2010/main" val="2628664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8C81D6-7828-24B1-9D5F-DCED6429FC5F}"/>
              </a:ext>
            </a:extLst>
          </p:cNvPr>
          <p:cNvSpPr txBox="1"/>
          <p:nvPr/>
        </p:nvSpPr>
        <p:spPr>
          <a:xfrm>
            <a:off x="1618568" y="352298"/>
            <a:ext cx="5906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Methodology</a:t>
            </a:r>
            <a:endParaRPr lang="en-IN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F2254-97C0-DBD6-2FB3-84CFDA498AC5}"/>
              </a:ext>
            </a:extLst>
          </p:cNvPr>
          <p:cNvSpPr txBox="1"/>
          <p:nvPr/>
        </p:nvSpPr>
        <p:spPr>
          <a:xfrm>
            <a:off x="477608" y="914702"/>
            <a:ext cx="818877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project followed a structured approach using various tools: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Cleaning (Excel):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initial steps include - Removed duplicates, handled null values, and ensured consistency for analysis.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Transformation (SQL):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Extracted, transformed, and aggregated data, generating statistical summaries like averages and trends.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Visualization (Power BI):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Created dashboards showcasing inventory, procurement, and financial metrics, highlighting trends and distributions.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(PowerPoint):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Summarized findings with Power BI visuals and statistical insights for stakeholder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93348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7F7B-5FB1-1934-EFA9-614080EF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51DA5F-1333-82C2-7029-A4A25D9840D2}"/>
              </a:ext>
            </a:extLst>
          </p:cNvPr>
          <p:cNvSpPr txBox="1"/>
          <p:nvPr/>
        </p:nvSpPr>
        <p:spPr>
          <a:xfrm>
            <a:off x="1618568" y="313553"/>
            <a:ext cx="5906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 All Closure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D3910-8DC3-EEC8-9A1F-8A8A9549B178}"/>
              </a:ext>
            </a:extLst>
          </p:cNvPr>
          <p:cNvSpPr txBox="1"/>
          <p:nvPr/>
        </p:nvSpPr>
        <p:spPr>
          <a:xfrm>
            <a:off x="477608" y="844961"/>
            <a:ext cx="818877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Customers: 7,032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Lost Customers: 1,869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Churn Rate: 26.58%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Monthly Charges: 455.66K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Charges: 16.06M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Male and female customers are equally distributed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churn in electronic check users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Higher charges lead to higher churn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Month-to-month contracts show highest churn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Fiber optic users have higher churn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 tenure customers are more likely to leave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Higher churn without Tech Support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Online Security reduces churn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Device Protection improves retention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88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B7BA-158C-BEF2-7AEE-2963F5E0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0CF77CDF-B44E-F13A-0F80-D967FAFBBBD8}"/>
              </a:ext>
            </a:extLst>
          </p:cNvPr>
          <p:cNvSpPr txBox="1"/>
          <p:nvPr/>
        </p:nvSpPr>
        <p:spPr>
          <a:xfrm>
            <a:off x="958793" y="577861"/>
            <a:ext cx="72264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Recommendations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D3A0CF-39BA-FAB3-DE7A-9AB8C80E2D7A}"/>
              </a:ext>
            </a:extLst>
          </p:cNvPr>
          <p:cNvSpPr txBox="1"/>
          <p:nvPr/>
        </p:nvSpPr>
        <p:spPr>
          <a:xfrm>
            <a:off x="662639" y="1481666"/>
            <a:ext cx="8396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Promote long-term contracts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Encourage auto-payment methods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 fiber optic service quality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Offer loyalty programs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Bundle value-added services</a:t>
            </a:r>
          </a:p>
        </p:txBody>
      </p:sp>
    </p:spTree>
    <p:extLst>
      <p:ext uri="{BB962C8B-B14F-4D97-AF65-F5344CB8AC3E}">
        <p14:creationId xmlns:p14="http://schemas.microsoft.com/office/powerpoint/2010/main" val="427038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8A5E0CB-BD3C-8D60-4254-29F83D1344E7}"/>
              </a:ext>
            </a:extLst>
          </p:cNvPr>
          <p:cNvSpPr txBox="1"/>
          <p:nvPr/>
        </p:nvSpPr>
        <p:spPr>
          <a:xfrm>
            <a:off x="1131774" y="1571476"/>
            <a:ext cx="6880451" cy="1520929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You! </a:t>
            </a:r>
          </a:p>
          <a:p>
            <a:pPr algn="ctr">
              <a:spcAft>
                <a:spcPts val="100"/>
              </a:spcAft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 your time and consideration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Best Regards,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Jay Bourasi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5909233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435</Words>
  <Application>Microsoft Office PowerPoint</Application>
  <PresentationFormat>On-screen Show (16:9)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Tahoma</vt:lpstr>
      <vt:lpstr>Arial</vt:lpstr>
      <vt:lpstr>Poppins Black</vt:lpstr>
      <vt:lpstr>Wingdings</vt:lpstr>
      <vt:lpstr>Poppins</vt:lpstr>
      <vt:lpstr>Poppins ExtraBold</vt:lpstr>
      <vt:lpstr>Barlow</vt:lpstr>
      <vt:lpstr>Data Analytics Strategy Toolkit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 Bourasi</dc:creator>
  <cp:lastModifiedBy>Jay Bourasi</cp:lastModifiedBy>
  <cp:revision>255</cp:revision>
  <dcterms:modified xsi:type="dcterms:W3CDTF">2026-01-30T16:19:25Z</dcterms:modified>
</cp:coreProperties>
</file>